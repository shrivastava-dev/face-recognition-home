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AI-Powered Smart Home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87A1E"/>
                </a:solidFill>
              </a:defRPr>
            </a:pPr>
            <a:r>
              <a:t>Face Recognition  •  Voice Control  •  LLM Integration  •  Raspberry 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Why This Project?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743200" cy="508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Goal: Build a hands-on AI + Embedded Systems project combining multiple real-world technologies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555555"/>
                </a:solidFill>
              </a:defRPr>
            </a:pPr>
            <a:r>
              <a:t>Combines Computer Vision, Speech AI, and Large Language Models in one working system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555555"/>
                </a:solidFill>
              </a:defRPr>
            </a:pPr>
            <a:r>
              <a:t>Designed for real deployment on edge hardware (Raspberry Pi 4), not just a laptop demo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What it does: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555555"/>
                </a:solidFill>
              </a:defRPr>
            </a:pPr>
            <a:r>
              <a:t>Recognizes faces at the door and greets people by name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555555"/>
                </a:solidFill>
              </a:defRPr>
            </a:pPr>
            <a:r>
              <a:t>Registers new/unknown visitors automatically via voice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555555"/>
                </a:solidFill>
              </a:defRPr>
            </a:pPr>
            <a:r>
              <a:t>Responds to a wake word ("Hey Jarvis") like Alexa/Google Home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555555"/>
                </a:solidFill>
              </a:defRPr>
            </a:pPr>
            <a:r>
              <a:t>Controls smart home appliances (lights, fans) via natural speech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High-Level Architecture (Overview)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515600" cy="73152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INPUT LAYER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USB Camera + Microphone</a:t>
            </a:r>
          </a:p>
        </p:txBody>
      </p:sp>
      <p:sp>
        <p:nvSpPr>
          <p:cNvPr id="4" name="Down Arrow 3"/>
          <p:cNvSpPr/>
          <p:nvPr/>
        </p:nvSpPr>
        <p:spPr>
          <a:xfrm>
            <a:off x="5852160" y="2057400"/>
            <a:ext cx="274320" cy="274320"/>
          </a:xfrm>
          <a:prstGeom prst="downArrow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515600" cy="822960"/>
          </a:xfrm>
          <a:prstGeom prst="round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PROCESSING LAYER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OpenCV (Detection) • face_recognition (Identity) • openWakeWord • Speech Recognition</a:t>
            </a:r>
          </a:p>
        </p:txBody>
      </p:sp>
      <p:sp>
        <p:nvSpPr>
          <p:cNvPr id="6" name="Down Arrow 5"/>
          <p:cNvSpPr/>
          <p:nvPr/>
        </p:nvSpPr>
        <p:spPr>
          <a:xfrm>
            <a:off x="5852160" y="3291840"/>
            <a:ext cx="274320" cy="274320"/>
          </a:xfrm>
          <a:prstGeom prst="downArrow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10515600" cy="731520"/>
          </a:xfrm>
          <a:prstGeom prst="roundRect">
            <a:avLst/>
          </a:prstGeom>
          <a:solidFill>
            <a:srgbClr val="E87A1E"/>
          </a:solidFill>
          <a:ln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F3A5F"/>
                </a:solidFill>
              </a:defRPr>
            </a:pPr>
            <a:r>
              <a:t>INTELLIGENCE LAYER</a:t>
            </a:r>
          </a:p>
          <a:p>
            <a:pPr algn="ctr">
              <a:defRPr sz="1300" b="1">
                <a:solidFill>
                  <a:srgbClr val="1F3A5F"/>
                </a:solidFill>
              </a:defRPr>
            </a:pPr>
            <a:r>
              <a:t>Rule-Based Fast Path  +  Google Gemini API (Function Calling)</a:t>
            </a:r>
          </a:p>
        </p:txBody>
      </p:sp>
      <p:sp>
        <p:nvSpPr>
          <p:cNvPr id="8" name="Down Arrow 7"/>
          <p:cNvSpPr/>
          <p:nvPr/>
        </p:nvSpPr>
        <p:spPr>
          <a:xfrm>
            <a:off x="5852160" y="4434840"/>
            <a:ext cx="274320" cy="274320"/>
          </a:xfrm>
          <a:prstGeom prst="downArrow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4800600"/>
            <a:ext cx="10515600" cy="731520"/>
          </a:xfrm>
          <a:prstGeom prst="round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OUTPUT LAYER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gTTS (Text-to-Speech)  •  Hardware Control (Lights / Fans)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52160" y="5577840"/>
            <a:ext cx="274320" cy="274320"/>
          </a:xfrm>
          <a:prstGeom prst="downArrow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5943600"/>
            <a:ext cx="10515600" cy="54864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DEPLOYMENT TARGET: Raspberry Pi 4 (8GB RAM)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Detailed Block Diagram — Sensing &amp; Concurrency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5303520" cy="45720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USB CAMERA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(Video Frames)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005840"/>
            <a:ext cx="5303520" cy="45720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MICROPHONE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(Audio Stream)</a:t>
            </a:r>
          </a:p>
        </p:txBody>
      </p:sp>
      <p:sp>
        <p:nvSpPr>
          <p:cNvPr id="5" name="Down Arrow 4"/>
          <p:cNvSpPr/>
          <p:nvPr/>
        </p:nvSpPr>
        <p:spPr>
          <a:xfrm>
            <a:off x="2971800" y="1508760"/>
            <a:ext cx="274320" cy="201168"/>
          </a:xfrm>
          <a:prstGeom prst="downArrow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wn Arrow 5"/>
          <p:cNvSpPr/>
          <p:nvPr/>
        </p:nvSpPr>
        <p:spPr>
          <a:xfrm>
            <a:off x="8915400" y="1508760"/>
            <a:ext cx="274320" cy="201168"/>
          </a:xfrm>
          <a:prstGeom prst="downArrow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55648"/>
            <a:ext cx="5303520" cy="457200"/>
          </a:xfrm>
          <a:prstGeom prst="round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PROCESS 1 (independent OS process)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face_recognition_process()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55648"/>
            <a:ext cx="5303520" cy="457200"/>
          </a:xfrm>
          <a:prstGeom prst="round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PROCESS 2 (independent OS process)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wake_word_process()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04288"/>
            <a:ext cx="5303520" cy="530352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OpenCV DNN: detect_faces_dnn()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Locate face coordinates in frame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304288"/>
            <a:ext cx="5303520" cy="530352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read_amplified_chunk()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Adaptive gain - prevents clipping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971800" y="2834640"/>
            <a:ext cx="274320" cy="109728"/>
          </a:xfrm>
          <a:prstGeom prst="downArrow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8915400" y="2834640"/>
            <a:ext cx="274320" cy="109728"/>
          </a:xfrm>
          <a:prstGeom prst="downArrow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926080"/>
            <a:ext cx="5303520" cy="530352"/>
          </a:xfrm>
          <a:prstGeom prst="round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face_recognition: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Generate 128-d face encoding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926080"/>
            <a:ext cx="5303520" cy="530352"/>
          </a:xfrm>
          <a:prstGeom prst="round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openWakeWord model.predict()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Returns confidence score 0.0-1.0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971800" y="3456432"/>
            <a:ext cx="274320" cy="109728"/>
          </a:xfrm>
          <a:prstGeom prst="downArrow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8915400" y="3456432"/>
            <a:ext cx="274320" cy="109728"/>
          </a:xfrm>
          <a:prstGeom prst="downArrow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3547872"/>
            <a:ext cx="5303520" cy="530352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compare_faces() vs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known_faces.pkl database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547872"/>
            <a:ext cx="5303520" cy="530352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Score &gt; 0.3 (single hit) OR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&gt; 0.2 twice consecutively?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2971800" y="4078224"/>
            <a:ext cx="274320" cy="109728"/>
          </a:xfrm>
          <a:prstGeom prst="downArrow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8915400" y="4078224"/>
            <a:ext cx="274320" cy="109728"/>
          </a:xfrm>
          <a:prstGeom prst="downArrow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4169664"/>
            <a:ext cx="5303520" cy="530352"/>
          </a:xfrm>
          <a:prstGeom prst="round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Known -&gt; Greet (TTS) + log_event()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Unknown -&gt; Voice registration 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169664"/>
            <a:ext cx="5303520" cy="530352"/>
          </a:xfrm>
          <a:prstGeom prst="round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TRIGGERED -&gt; set pause_event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Hand off to run_command_listening()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71800" y="4791456"/>
            <a:ext cx="0" cy="91440"/>
          </a:xfrm>
          <a:prstGeom prst="line">
            <a:avLst/>
          </a:prstGeom>
          <a:ln w="285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915400" y="4791456"/>
            <a:ext cx="0" cy="91440"/>
          </a:xfrm>
          <a:prstGeom prst="line">
            <a:avLst/>
          </a:prstGeom>
          <a:ln w="285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57200" y="4882896"/>
            <a:ext cx="11247120" cy="685800"/>
          </a:xfrm>
          <a:prstGeom prst="roundRect">
            <a:avLst/>
          </a:prstGeom>
          <a:solidFill>
            <a:srgbClr val="E87A1E"/>
          </a:solidFill>
          <a:ln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F3A5F"/>
                </a:solidFill>
              </a:defRPr>
            </a:pPr>
            <a:r>
              <a:t>SHARED MULTIPROCESSING OBJECTS  (created once in main(), passed to BOTH processes as arguments)</a:t>
            </a:r>
          </a:p>
          <a:p>
            <a:pPr algn="ctr">
              <a:defRPr sz="1200" b="1">
                <a:solidFill>
                  <a:srgbClr val="1F3A5F"/>
                </a:solidFill>
              </a:defRPr>
            </a:pPr>
            <a:r>
              <a:t>pause_event (mp.Event)   |   stop_event (mp.Event)   |   audio_lock (mp.Lock)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70585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55555"/>
                </a:solidFill>
              </a:defRPr>
            </a:pPr>
            <a:r>
              <a:t>Note: True parallel execution via multiprocessing (separate memory per process) - avoids Python's GIL contention that caused earlier wake-word reliability issues when using threading instead.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Detailed Block Diagram — Command Processing Logic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11247120" cy="45720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Wake word triggered -&gt; run_command_listening()</a:t>
            </a:r>
          </a:p>
        </p:txBody>
      </p:sp>
      <p:sp>
        <p:nvSpPr>
          <p:cNvPr id="4" name="Down Arrow 3"/>
          <p:cNvSpPr/>
          <p:nvPr/>
        </p:nvSpPr>
        <p:spPr>
          <a:xfrm>
            <a:off x="6080760" y="1444752"/>
            <a:ext cx="274320" cy="182880"/>
          </a:xfrm>
          <a:prstGeom prst="downArrow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64208"/>
            <a:ext cx="11247120" cy="457200"/>
          </a:xfrm>
          <a:prstGeom prst="round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Google Speech-to-Text API:  Audio -&gt; Text Command</a:t>
            </a:r>
          </a:p>
        </p:txBody>
      </p:sp>
      <p:sp>
        <p:nvSpPr>
          <p:cNvPr id="6" name="Down Arrow 5"/>
          <p:cNvSpPr/>
          <p:nvPr/>
        </p:nvSpPr>
        <p:spPr>
          <a:xfrm>
            <a:off x="6080760" y="2148840"/>
            <a:ext cx="274320" cy="182880"/>
          </a:xfrm>
          <a:prstGeom prst="downArrow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526280" y="2377440"/>
            <a:ext cx="3108960" cy="914400"/>
          </a:xfrm>
          <a:prstGeom prst="diamond">
            <a:avLst/>
          </a:prstGeom>
          <a:solidFill>
            <a:srgbClr val="E87A1E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F3A5F"/>
                </a:solidFill>
              </a:defRPr>
            </a:pPr>
            <a:r>
              <a:t>Rule-based match?</a:t>
            </a:r>
          </a:p>
          <a:p>
            <a:pPr algn="ctr">
              <a:defRPr sz="1300" b="1">
                <a:solidFill>
                  <a:srgbClr val="1F3A5F"/>
                </a:solidFill>
              </a:defRPr>
            </a:pPr>
            <a:r>
              <a:t>(try_simple_match)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3017520" y="3291840"/>
            <a:ext cx="2011680" cy="274320"/>
          </a:xfrm>
          <a:prstGeom prst="line">
            <a:avLst/>
          </a:prstGeom>
          <a:ln w="285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32320" y="3291840"/>
            <a:ext cx="2011680" cy="274320"/>
          </a:xfrm>
          <a:prstGeom prst="line">
            <a:avLst/>
          </a:prstGeom>
          <a:ln w="285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" y="3566160"/>
            <a:ext cx="5120640" cy="594360"/>
          </a:xfrm>
          <a:prstGeom prst="round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YES -&gt; Execute Python function directly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(turn_on_light / turn_off_fan / etc.)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Instant - zero API calls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566160"/>
            <a:ext cx="5120640" cy="548640"/>
          </a:xfrm>
          <a:prstGeom prst="roundRect">
            <a:avLst/>
          </a:prstGeom>
          <a:solidFill>
            <a:srgbClr val="E87A1E"/>
          </a:solidFill>
          <a:ln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F3A5F"/>
                </a:solidFill>
              </a:defRPr>
            </a:pPr>
            <a:r>
              <a:t>NO -&gt; chat.send_message(command)</a:t>
            </a:r>
          </a:p>
          <a:p>
            <a:pPr algn="ctr">
              <a:defRPr sz="1200" b="1">
                <a:solidFill>
                  <a:srgbClr val="1F3A5F"/>
                </a:solidFill>
              </a:defRPr>
            </a:pPr>
            <a:r>
              <a:t>Google Gemini API (gemini-3.5-flash)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017520" y="4206240"/>
            <a:ext cx="274320" cy="137160"/>
          </a:xfrm>
          <a:prstGeom prst="downArrow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389120"/>
            <a:ext cx="5120640" cy="50292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appliance_state dict checked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(skip action if already ON/OFF)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9144000" y="4023360"/>
            <a:ext cx="274320" cy="109728"/>
          </a:xfrm>
          <a:prstGeom prst="downArrow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0" y="4160520"/>
            <a:ext cx="5120640" cy="457200"/>
          </a:xfrm>
          <a:prstGeom prst="round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Gemini analyzes command + available tools list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144000" y="4553712"/>
            <a:ext cx="274320" cy="109728"/>
          </a:xfrm>
          <a:prstGeom prst="downArrow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0" y="4690872"/>
            <a:ext cx="5120640" cy="457200"/>
          </a:xfrm>
          <a:prstGeom prst="round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SDK auto-executes the matching Python function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144000" y="5084064"/>
            <a:ext cx="274320" cy="109728"/>
          </a:xfrm>
          <a:prstGeom prst="downArrow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0" y="5221224"/>
            <a:ext cx="5120640" cy="457200"/>
          </a:xfrm>
          <a:prstGeom prst="round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Gemini formulates final natural-language reply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17520" y="4892040"/>
            <a:ext cx="2011680" cy="777240"/>
          </a:xfrm>
          <a:prstGeom prst="line">
            <a:avLst/>
          </a:prstGeom>
          <a:ln w="285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7772400" y="5669280"/>
            <a:ext cx="1371600" cy="82296"/>
          </a:xfrm>
          <a:prstGeom prst="line">
            <a:avLst/>
          </a:prstGeom>
          <a:ln w="285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743200" y="5715000"/>
            <a:ext cx="6675120" cy="50292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response_text ready -&gt; returned to main.py's speak()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Note: TESTING_MODE flag in Agent.py mocks Gemini responses during development, preserving the free-tier quota (20 requests/day).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Detailed Block Diagram — Output &amp; Persistence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11247120" cy="45720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response_text received in main.py</a:t>
            </a:r>
          </a:p>
        </p:txBody>
      </p:sp>
      <p:sp>
        <p:nvSpPr>
          <p:cNvPr id="4" name="Down Arrow 3"/>
          <p:cNvSpPr/>
          <p:nvPr/>
        </p:nvSpPr>
        <p:spPr>
          <a:xfrm>
            <a:off x="6080760" y="1444752"/>
            <a:ext cx="274320" cy="182880"/>
          </a:xfrm>
          <a:prstGeom prst="downArrow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64208"/>
            <a:ext cx="11247120" cy="457200"/>
          </a:xfrm>
          <a:prstGeom prst="round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speak(response_text, audio_lock)</a:t>
            </a:r>
          </a:p>
        </p:txBody>
      </p:sp>
      <p:sp>
        <p:nvSpPr>
          <p:cNvPr id="6" name="Down Arrow 5"/>
          <p:cNvSpPr/>
          <p:nvPr/>
        </p:nvSpPr>
        <p:spPr>
          <a:xfrm>
            <a:off x="2971800" y="2148840"/>
            <a:ext cx="274320" cy="182880"/>
          </a:xfrm>
          <a:prstGeom prst="downArrow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wn Arrow 6"/>
          <p:cNvSpPr/>
          <p:nvPr/>
        </p:nvSpPr>
        <p:spPr>
          <a:xfrm>
            <a:off x="8915400" y="2148840"/>
            <a:ext cx="274320" cy="182880"/>
          </a:xfrm>
          <a:prstGeom prst="downArrow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377440"/>
            <a:ext cx="5303520" cy="548640"/>
          </a:xfrm>
          <a:prstGeom prst="roundRect">
            <a:avLst/>
          </a:prstGeom>
          <a:solidFill>
            <a:srgbClr val="E87A1E"/>
          </a:solidFill>
          <a:ln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F3A5F"/>
                </a:solidFill>
              </a:defRPr>
            </a:pPr>
            <a:r>
              <a:t>gTTS: text -&gt; .mp3 file</a:t>
            </a:r>
          </a:p>
          <a:p>
            <a:pPr algn="ctr">
              <a:defRPr sz="1200" b="1">
                <a:solidFill>
                  <a:srgbClr val="1F3A5F"/>
                </a:solidFill>
              </a:defRPr>
            </a:pPr>
            <a:r>
              <a:t>(requires internet connection)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377440"/>
            <a:ext cx="5303520" cy="548640"/>
          </a:xfrm>
          <a:prstGeom prst="roundRect">
            <a:avLst/>
          </a:prstGeom>
          <a:solidFill>
            <a:srgbClr val="E87A1E"/>
          </a:solidFill>
          <a:ln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F3A5F"/>
                </a:solidFill>
              </a:defRPr>
            </a:pPr>
            <a:r>
              <a:t>audio_lock.acquire()</a:t>
            </a:r>
          </a:p>
          <a:p>
            <a:pPr algn="ctr">
              <a:defRPr sz="1200" b="1">
                <a:solidFill>
                  <a:srgbClr val="1F3A5F"/>
                </a:solidFill>
              </a:defRPr>
            </a:pPr>
            <a:r>
              <a:t>Prevents overlap with other process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52160" y="3017520"/>
            <a:ext cx="274320" cy="182880"/>
          </a:xfrm>
          <a:prstGeom prst="downArrow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3246120"/>
            <a:ext cx="11247120" cy="50292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playsound: plays .mp3 through speaker -&gt; temp file deleted after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971800" y="3794760"/>
            <a:ext cx="274320" cy="182880"/>
          </a:xfrm>
          <a:prstGeom prst="downArrow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8915400" y="3794760"/>
            <a:ext cx="274320" cy="182880"/>
          </a:xfrm>
          <a:prstGeom prst="downArrow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4023360"/>
            <a:ext cx="5303520" cy="594360"/>
          </a:xfrm>
          <a:prstGeom prst="round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log_event()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-&gt; activity_log.json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(timestamp, event_type, name)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023360"/>
            <a:ext cx="5303520" cy="594360"/>
          </a:xfrm>
          <a:prstGeom prst="round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save_database()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-&gt; known_faces.pkl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(only on NEW registration)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971800" y="4663440"/>
            <a:ext cx="274320" cy="182880"/>
          </a:xfrm>
          <a:prstGeom prst="downArrow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8915400" y="4663440"/>
            <a:ext cx="274320" cy="182880"/>
          </a:xfrm>
          <a:prstGeom prst="downArrow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4892040"/>
            <a:ext cx="11247120" cy="457200"/>
          </a:xfrm>
          <a:prstGeom prst="round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pause_event.clear()  -&gt;  face recognition process resumes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080760" y="5394960"/>
            <a:ext cx="274320" cy="182880"/>
          </a:xfrm>
          <a:prstGeom prst="downArrow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5623560"/>
            <a:ext cx="11247120" cy="45720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System returns to IDLE  /  continuous monitoring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Note: Hardware functions (turn_on_light, etc.) execute IMMEDIATELY when decided - either rule-based or via Gemini function-calling - BEFORE this output stage. Currently simulated via print(); Arduino integration planned next.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Hybrid AI Architecture (Key Design Decision)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743200" cy="508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Problem: LLM API calls are slower, cost money, and have rate limits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Solution: Two-tier command processing system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Tier 1 — Rule-Based Matching (instant, free, offline)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555555"/>
                </a:solidFill>
              </a:defRPr>
            </a:pPr>
            <a:r>
              <a:t>Handles common exact phrases: "turn on light", "turn off fan"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555555"/>
                </a:solidFill>
              </a:defRPr>
            </a:pPr>
            <a:r>
              <a:t>Zero API calls, millisecond response time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Tier 2 — Gemini LLM with Function Calling (fallback)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555555"/>
                </a:solidFill>
              </a:defRPr>
            </a:pPr>
            <a:r>
              <a:t>Handles natural/ambiguous language: "it's dark in here"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555555"/>
                </a:solidFill>
              </a:defRPr>
            </a:pPr>
            <a:r>
              <a:t>AI decides which function to call, executes real actions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Result: Fast AND intelligent, while preserving API quota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743200" cy="508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Computer Vision:  OpenCV (DNN detection)  •  face_recognition / dlib (identity)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Speech:  openWakeWord (wake detection)  •  SpeechRecognition (STT)  •  gTTS (TTS)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AI / LLM:  Google Gemini API  •  Function Calling / Tool Use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RAG (prototype):  sentence-transformers  •  FAISS vector search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Concurrency:  Python multiprocessing (true parallel execution)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Data:  pickle (face DB persistence)  •  JSON (activity logging)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Security:  python-dotenv (API key management)  •  .gitignore practices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Hardware:  Raspberry Pi 4 (8GB)  •  USB Camera  •  Microphone  •  Arduino (planned)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Key Technical Challenges Solved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743200" cy="508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NumPy 2.x vs OpenCV compatibility conflict -&gt; pinned numpy==1.26.4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Wake-word unreliability -&gt; root cause: GIL contention + USB bandwidth sharing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555555"/>
                </a:solidFill>
              </a:defRPr>
            </a:pPr>
            <a:r>
              <a:t>Fixed via multiprocessing architecture + separate microphone device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Distance limitation (~3m) -&gt; implemented adaptive audio gain (prevents clipping)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Audio collision race condition -&gt; shared multiprocessing Lock across processes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API quota exhaustion (20/day free tier) -&gt; built mock-testing mode for development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Corporate VPN blocking external services -&gt; identified &amp; documented as constraint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Engineering Practices Followed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743200" cy="508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Version control with Git/GitHub — proper commit history throughout development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Secrets management — API keys via .env, never hardcoded or exposed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Graceful degradation — system works even if AI/TTS temporarily unavailable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State management — appliances track ON/OFF state, avoid redundant actions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Alexa-style UX — retry logic for misunderstood commands, timeout handling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Resource-conscious design — frame-skipping, thread limiting for edge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Current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743200" cy="508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COMPLETE — Face detection &amp; recognition with persistent database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COMPLETE — Voice-based new user registration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COMPLETE — Wake word detection (reliable at 3m+ range)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COMPLETE — Gemini AI agent with function calling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COMPLETE — Hybrid rule-based + LLM command routing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COMPLETE — Multiprocessing architecture for reliability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IN PROGRESS — Arduino integration for physical hardware control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PLANNED — Final deployment &amp; testing on Raspberry Pi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743200" cy="508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Re-activate RAG system for "ask about home history" queries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Offline STT/TTS fallback (Vosk / pyttsx3) for internet-outage resilience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ReSpeaker far-field microphone array for improved range on Pi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Multi-command conversation mode (follow-up questions without re-waking)</a:t>
            </a:r>
          </a:p>
          <a:p>
            <a:pPr>
              <a:spcAft>
                <a:spcPts val="1000"/>
              </a:spcAft>
              <a:defRPr sz="2000" b="1">
                <a:solidFill>
                  <a:srgbClr val="1F3A5F"/>
                </a:solidFill>
              </a:defRPr>
            </a:pPr>
            <a:r>
              <a:t>Mobile app / web dashboard for remote monitoring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87A1E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